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media/image9.jpeg" ContentType="image/jpeg"/>
  <Override PartName="/ppt/media/image10.jpeg" ContentType="image/jpeg"/>
  <Override PartName="/ppt/media/image11.jpeg" ContentType="image/jpeg"/>
  <Override PartName="/ppt/media/image12.jpeg" ContentType="image/jpeg"/>
  <Override PartName="/ppt/media/image13.jpeg" ContentType="image/jpeg"/>
  <Override PartName="/ppt/media/image14.jpeg" ContentType="image/jpeg"/>
  <Override PartName="/ppt/media/image15.jpeg" ContentType="image/jpeg"/>
  <Override PartName="/ppt/media/image16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1pPr>
    <a:lvl2pPr marL="0" marR="0" indent="4572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2pPr>
    <a:lvl3pPr marL="0" marR="0" indent="9144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3pPr>
    <a:lvl4pPr marL="0" marR="0" indent="13716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4pPr>
    <a:lvl5pPr marL="0" marR="0" indent="18288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5pPr>
    <a:lvl6pPr marL="0" marR="0" indent="22860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6pPr>
    <a:lvl7pPr marL="0" marR="0" indent="27432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7pPr>
    <a:lvl8pPr marL="0" marR="0" indent="32004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8pPr>
    <a:lvl9pPr marL="0" marR="0" indent="36576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9A9A9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9A9A9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rgbClr val="00A1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solidFill>
            <a:srgbClr val="014D80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9A9A9"/>
          </a:solidFill>
        </a:fill>
      </a:tcStyle>
    </a:band2H>
    <a:firstCol>
      <a:tcTxStyle b="off" i="off">
        <a:font>
          <a:latin typeface="Graphik Medium"/>
          <a:ea typeface="Graphik Medium"/>
          <a:cs typeface="Graphik Medium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13B100"/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rgbClr val="61D83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Graphik Medium"/>
          <a:ea typeface="Graphik Medium"/>
          <a:cs typeface="Graphik Medium"/>
        </a:font>
        <a:srgbClr val="FFFFFF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552055"/>
              <a:lumOff val="-12548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9A9A9"/>
          </a:solidFill>
        </a:fill>
      </a:tcStyle>
    </a:band2H>
    <a:firstCol>
      <a:tcTxStyle b="off" i="off">
        <a:font>
          <a:latin typeface="Graphik Medium"/>
          <a:ea typeface="Graphik Medium"/>
          <a:cs typeface="Graphik Medium"/>
        </a:font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613784"/>
              <a:lumOff val="1275"/>
            </a:scheme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613784"/>
                  <a:lumOff val="1275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Graphik Medium"/>
          <a:ea typeface="Graphik Medium"/>
          <a:cs typeface="Graphik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F53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9A9A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98195F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9A9A9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381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64646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resentation Title"/>
          <p:cNvSpPr txBox="1"/>
          <p:nvPr>
            <p:ph type="title" hasCustomPrompt="1"/>
          </p:nvPr>
        </p:nvSpPr>
        <p:spPr>
          <a:xfrm>
            <a:off x="1270000" y="3289300"/>
            <a:ext cx="21844000" cy="3879454"/>
          </a:xfrm>
          <a:prstGeom prst="rect">
            <a:avLst/>
          </a:prstGeom>
        </p:spPr>
        <p:txBody>
          <a:bodyPr/>
          <a:lstStyle>
            <a:lvl1pPr defTabSz="2438338">
              <a:lnSpc>
                <a:spcPct val="90000"/>
              </a:lnSpc>
              <a:defRPr spc="-348" sz="116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12" name="Author and Date"/>
          <p:cNvSpPr txBox="1"/>
          <p:nvPr>
            <p:ph type="body" sz="quarter" idx="21" hasCustomPrompt="1"/>
          </p:nvPr>
        </p:nvSpPr>
        <p:spPr>
          <a:xfrm>
            <a:off x="1270000" y="12160429"/>
            <a:ext cx="21844000" cy="694056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35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70000" y="6985000"/>
            <a:ext cx="21844000" cy="2512352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wo jellyfish touching against a dark blue background"/>
          <p:cNvSpPr/>
          <p:nvPr>
            <p:ph type="pic" idx="21"/>
          </p:nvPr>
        </p:nvSpPr>
        <p:spPr>
          <a:xfrm>
            <a:off x="0" y="-1270000"/>
            <a:ext cx="24384000" cy="1625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Author and Date"/>
          <p:cNvSpPr txBox="1"/>
          <p:nvPr>
            <p:ph type="body" sz="quarter" idx="22" hasCustomPrompt="1"/>
          </p:nvPr>
        </p:nvSpPr>
        <p:spPr>
          <a:xfrm>
            <a:off x="1270000" y="12166600"/>
            <a:ext cx="21844000" cy="694055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35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3" name="Presentation Title"/>
          <p:cNvSpPr txBox="1"/>
          <p:nvPr>
            <p:ph type="title" hasCustomPrompt="1"/>
          </p:nvPr>
        </p:nvSpPr>
        <p:spPr>
          <a:xfrm>
            <a:off x="1270000" y="3289300"/>
            <a:ext cx="21844000" cy="3873500"/>
          </a:xfrm>
          <a:prstGeom prst="rect">
            <a:avLst/>
          </a:prstGeom>
        </p:spPr>
        <p:txBody>
          <a:bodyPr/>
          <a:lstStyle>
            <a:lvl1pPr defTabSz="2438400">
              <a:lnSpc>
                <a:spcPct val="90000"/>
              </a:lnSpc>
              <a:defRPr spc="-348" sz="116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70000" y="6985000"/>
            <a:ext cx="21844000" cy="25146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wo jellyfish against a blue background"/>
          <p:cNvSpPr/>
          <p:nvPr>
            <p:ph type="pic" idx="21"/>
          </p:nvPr>
        </p:nvSpPr>
        <p:spPr>
          <a:xfrm>
            <a:off x="7962900" y="-25400"/>
            <a:ext cx="20650200" cy="13766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70000" y="3885108"/>
            <a:ext cx="9652000" cy="3200203"/>
          </a:xfrm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70000" y="6845300"/>
            <a:ext cx="9652000" cy="56642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45720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91440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137160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182880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xfrm>
            <a:off x="1270000" y="4269316"/>
            <a:ext cx="21844000" cy="8432801"/>
          </a:xfrm>
          <a:prstGeom prst="rect">
            <a:avLst/>
          </a:prstGeom>
        </p:spPr>
        <p:txBody>
          <a:bodyPr numCol="2" spcCol="109220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wo jellyfish against a pink background"/>
          <p:cNvSpPr/>
          <p:nvPr>
            <p:ph type="pic" idx="21"/>
          </p:nvPr>
        </p:nvSpPr>
        <p:spPr>
          <a:xfrm>
            <a:off x="10185400" y="0"/>
            <a:ext cx="18161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Slide Title"/>
          <p:cNvSpPr txBox="1"/>
          <p:nvPr>
            <p:ph type="title" hasCustomPrompt="1"/>
          </p:nvPr>
        </p:nvSpPr>
        <p:spPr>
          <a:xfrm>
            <a:off x="1270000" y="838200"/>
            <a:ext cx="9652000" cy="1549400"/>
          </a:xfrm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5E03FF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Slide Title</a:t>
            </a:r>
          </a:p>
        </p:txBody>
      </p:sp>
      <p:sp>
        <p:nvSpPr>
          <p:cNvPr id="62" name="Body Level One…"/>
          <p:cNvSpPr txBox="1"/>
          <p:nvPr>
            <p:ph type="body" sz="half" idx="1" hasCustomPrompt="1"/>
          </p:nvPr>
        </p:nvSpPr>
        <p:spPr>
          <a:xfrm>
            <a:off x="1270000" y="4267200"/>
            <a:ext cx="9652000" cy="843280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3" name="Slide Subtitle"/>
          <p:cNvSpPr txBox="1"/>
          <p:nvPr>
            <p:ph type="body" sz="quarter" idx="22" hasCustomPrompt="1"/>
          </p:nvPr>
        </p:nvSpPr>
        <p:spPr>
          <a:xfrm>
            <a:off x="1270000" y="2133600"/>
            <a:ext cx="9652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Title"/>
          <p:cNvSpPr txBox="1"/>
          <p:nvPr>
            <p:ph type="title" hasCustomPrompt="1"/>
          </p:nvPr>
        </p:nvSpPr>
        <p:spPr>
          <a:xfrm>
            <a:off x="1270000" y="838200"/>
            <a:ext cx="9652000" cy="1549400"/>
          </a:xfrm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5E03FF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Slide 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70000" y="4267200"/>
            <a:ext cx="9652000" cy="843280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Subtitle"/>
          <p:cNvSpPr txBox="1"/>
          <p:nvPr>
            <p:ph type="body" sz="quarter" idx="21" hasCustomPrompt="1"/>
          </p:nvPr>
        </p:nvSpPr>
        <p:spPr>
          <a:xfrm>
            <a:off x="1270000" y="2133600"/>
            <a:ext cx="9652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/>
          <p:nvPr>
            <p:ph type="title" hasCustomPrompt="1"/>
          </p:nvPr>
        </p:nvSpPr>
        <p:spPr>
          <a:xfrm>
            <a:off x="1270000" y="838200"/>
            <a:ext cx="9652000" cy="1549400"/>
          </a:xfrm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5E03FF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Slide 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70000" y="4267200"/>
            <a:ext cx="9652000" cy="843280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Subtitle"/>
          <p:cNvSpPr txBox="1"/>
          <p:nvPr>
            <p:ph type="body" sz="quarter" idx="21" hasCustomPrompt="1"/>
          </p:nvPr>
        </p:nvSpPr>
        <p:spPr>
          <a:xfrm>
            <a:off x="1270000" y="2133600"/>
            <a:ext cx="9652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70000" y="3289300"/>
            <a:ext cx="21844000" cy="3873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pc="-348" sz="116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70000" y="812800"/>
            <a:ext cx="21844000" cy="1562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buClrTx/>
              <a:buSzTx/>
              <a:buNone/>
              <a:defRPr spc="-55" sz="5500"/>
            </a:lvl1pPr>
            <a:lvl2pPr marL="0" indent="457200" defTabSz="825500">
              <a:buClrTx/>
              <a:buSzTx/>
              <a:buNone/>
              <a:defRPr spc="-55" sz="5500"/>
            </a:lvl2pPr>
            <a:lvl3pPr marL="0" indent="914400" defTabSz="825500">
              <a:buClrTx/>
              <a:buSzTx/>
              <a:buNone/>
              <a:defRPr spc="-55" sz="5500"/>
            </a:lvl3pPr>
            <a:lvl4pPr marL="0" indent="1371600" defTabSz="825500">
              <a:buClrTx/>
              <a:buSzTx/>
              <a:buNone/>
              <a:defRPr spc="-55" sz="5500"/>
            </a:lvl4pPr>
            <a:lvl5pPr marL="0" indent="1828800" defTabSz="825500">
              <a:buClrTx/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70000" y="4927600"/>
            <a:ext cx="21844000" cy="3902869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45720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91440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137160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182880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sz="half" idx="1" hasCustomPrompt="1"/>
          </p:nvPr>
        </p:nvSpPr>
        <p:spPr>
          <a:xfrm>
            <a:off x="1270000" y="3906096"/>
            <a:ext cx="21844000" cy="4488604"/>
          </a:xfrm>
          <a:prstGeom prst="rect">
            <a:avLst/>
          </a:prstGeom>
        </p:spPr>
        <p:txBody>
          <a:bodyPr anchor="b"/>
          <a:lstStyle>
            <a:lvl1pPr marL="0" indent="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  <a:lvl2pPr marL="0" indent="4572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2pPr>
            <a:lvl3pPr marL="0" indent="9144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3pPr>
            <a:lvl4pPr marL="0" indent="13716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4pPr>
            <a:lvl5pPr marL="0" indent="18288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70000" y="85217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1270000" y="11155086"/>
            <a:ext cx="21844000" cy="832613"/>
          </a:xfrm>
          <a:prstGeom prst="rect">
            <a:avLst/>
          </a:prstGeom>
        </p:spPr>
        <p:txBody>
          <a:bodyPr anchor="ctr"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270000" y="5141969"/>
            <a:ext cx="21844000" cy="343019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wo jellyfish against a pink background"/>
          <p:cNvSpPr/>
          <p:nvPr>
            <p:ph type="pic" sz="half" idx="21"/>
          </p:nvPr>
        </p:nvSpPr>
        <p:spPr>
          <a:xfrm>
            <a:off x="12192000" y="4813300"/>
            <a:ext cx="12192000" cy="920794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Two jellyfish touching against a dark blue background"/>
          <p:cNvSpPr/>
          <p:nvPr>
            <p:ph type="pic" sz="half" idx="22"/>
          </p:nvPr>
        </p:nvSpPr>
        <p:spPr>
          <a:xfrm>
            <a:off x="12192000" y="-628650"/>
            <a:ext cx="12192000" cy="812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Two jellyfish against a blue background"/>
          <p:cNvSpPr/>
          <p:nvPr>
            <p:ph type="pic" idx="23"/>
          </p:nvPr>
        </p:nvSpPr>
        <p:spPr>
          <a:xfrm>
            <a:off x="-4203700" y="0"/>
            <a:ext cx="20574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wo jellyfish touching against a dark blue background"/>
          <p:cNvSpPr/>
          <p:nvPr>
            <p:ph type="pic" idx="21"/>
          </p:nvPr>
        </p:nvSpPr>
        <p:spPr>
          <a:xfrm>
            <a:off x="0" y="-1270000"/>
            <a:ext cx="24384000" cy="1625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70000" y="812800"/>
            <a:ext cx="21844000" cy="1557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70000" y="4267200"/>
            <a:ext cx="21844000" cy="843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77623" y="13081000"/>
            <a:ext cx="416053" cy="46710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825500">
              <a:spcBef>
                <a:spcPts val="0"/>
              </a:spcBef>
              <a:defRPr sz="2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1pPr>
      <a:lvl2pPr marL="0" marR="0" indent="4572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2pPr>
      <a:lvl3pPr marL="0" marR="0" indent="9144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3pPr>
      <a:lvl4pPr marL="0" marR="0" indent="13716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4pPr>
      <a:lvl5pPr marL="0" marR="0" indent="18288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5pPr>
      <a:lvl6pPr marL="0" marR="0" indent="22860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6pPr>
      <a:lvl7pPr marL="0" marR="0" indent="27432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7pPr>
      <a:lvl8pPr marL="0" marR="0" indent="32004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8pPr>
      <a:lvl9pPr marL="0" marR="0" indent="36576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9pPr>
    </p:titleStyle>
    <p:bodyStyle>
      <a:lvl1pPr marL="5588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1pPr>
      <a:lvl2pPr marL="11176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2pPr>
      <a:lvl3pPr marL="16764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3pPr>
      <a:lvl4pPr marL="22352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4pPr>
      <a:lvl5pPr marL="27940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5pPr>
      <a:lvl6pPr marL="33528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6pPr>
      <a:lvl7pPr marL="39116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7pPr>
      <a:lvl8pPr marL="44704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8pPr>
      <a:lvl9pPr marL="50292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.jpe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image" Target="../media/image7.jpe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8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9.jpe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jpe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1.jpe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2.jpeg"/><Relationship Id="rId3" Type="http://schemas.openxmlformats.org/officeDocument/2006/relationships/image" Target="../media/image13.jpeg"/><Relationship Id="rId4" Type="http://schemas.openxmlformats.org/officeDocument/2006/relationships/image" Target="../media/image14.jpeg"/><Relationship Id="rId5" Type="http://schemas.openxmlformats.org/officeDocument/2006/relationships/image" Target="../media/image10.jpe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5.jpe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6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 Simple Analog Gas Detection System for Safety Monitoring"/>
          <p:cNvSpPr txBox="1"/>
          <p:nvPr>
            <p:ph type="subTitle" sz="half" idx="1"/>
          </p:nvPr>
        </p:nvSpPr>
        <p:spPr>
          <a:xfrm>
            <a:off x="1270000" y="6376281"/>
            <a:ext cx="21844001" cy="3520167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 spc="-288" sz="96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</a:lstStyle>
          <a:p>
            <a:pPr/>
            <a:r>
              <a:t>A Simple Analog Gas Detection System for Safety Monitoring</a:t>
            </a:r>
          </a:p>
        </p:txBody>
      </p:sp>
      <p:pic>
        <p:nvPicPr>
          <p:cNvPr id="172" name="Image 35.jpeg" descr="Image 35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03571" y="245473"/>
            <a:ext cx="4121299" cy="3666111"/>
          </a:xfrm>
          <a:prstGeom prst="rect">
            <a:avLst/>
          </a:prstGeom>
          <a:ln w="12700">
            <a:miter lim="400000"/>
          </a:ln>
        </p:spPr>
      </p:pic>
      <p:sp>
        <p:nvSpPr>
          <p:cNvPr id="173" name="Department of Electrical and Electronic Engineering (EEE)"/>
          <p:cNvSpPr txBox="1"/>
          <p:nvPr/>
        </p:nvSpPr>
        <p:spPr>
          <a:xfrm>
            <a:off x="4479290" y="4228040"/>
            <a:ext cx="15425421" cy="83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825500">
              <a:spcBef>
                <a:spcPts val="0"/>
              </a:spcBef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Department of Electrical and Electronic Engineering (EEE)</a:t>
            </a:r>
          </a:p>
        </p:txBody>
      </p:sp>
      <p:sp>
        <p:nvSpPr>
          <p:cNvPr id="174" name="Submitted to:…"/>
          <p:cNvSpPr txBox="1"/>
          <p:nvPr/>
        </p:nvSpPr>
        <p:spPr>
          <a:xfrm>
            <a:off x="16373254" y="10241224"/>
            <a:ext cx="7620662" cy="304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825500">
              <a:spcBef>
                <a:spcPts val="0"/>
              </a:spcBef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Submitted to:</a:t>
            </a:r>
          </a:p>
          <a:p>
            <a:pPr algn="ctr" defTabSz="825500">
              <a:spcBef>
                <a:spcPts val="0"/>
              </a:spcBef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Md. Sharif Uddin</a:t>
            </a:r>
          </a:p>
          <a:p>
            <a:pPr algn="ctr" defTabSz="825500">
              <a:spcBef>
                <a:spcPts val="0"/>
              </a:spcBef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Lecturer, Department of EEE</a:t>
            </a:r>
          </a:p>
          <a:p>
            <a:pPr algn="ctr" defTabSz="825500">
              <a:spcBef>
                <a:spcPts val="0"/>
              </a:spcBef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University of Asia Pacific</a:t>
            </a:r>
          </a:p>
        </p:txBody>
      </p:sp>
      <p:sp>
        <p:nvSpPr>
          <p:cNvPr id="175" name="Date of Submission: 26 October 2025"/>
          <p:cNvSpPr txBox="1"/>
          <p:nvPr/>
        </p:nvSpPr>
        <p:spPr>
          <a:xfrm>
            <a:off x="699365" y="11806634"/>
            <a:ext cx="10094469" cy="83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825500">
              <a:spcBef>
                <a:spcPts val="0"/>
              </a:spcBef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Date of Submission:</a:t>
            </a:r>
            <a:r>
              <a:t> 26 October 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🔹 What is a Gas Detector? A gas detector is a device that senses harmful gases in the air and alerts when the gas level becomes unsafe.…"/>
          <p:cNvSpPr txBox="1"/>
          <p:nvPr/>
        </p:nvSpPr>
        <p:spPr>
          <a:xfrm>
            <a:off x="134450" y="1320271"/>
            <a:ext cx="24115100" cy="11720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 defTabSz="825500">
              <a:spcBef>
                <a:spcPts val="0"/>
              </a:spcBef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rPr b="1">
                <a:latin typeface="Graphik"/>
                <a:ea typeface="Graphik"/>
                <a:cs typeface="Graphik"/>
                <a:sym typeface="Graphik"/>
              </a:rPr>
              <a:t>🔹 What is a Gas Detector?</a:t>
            </a:r>
            <a:br/>
            <a:r>
              <a:t>A gas detector is a device that senses harmful gases in the air and alerts when the gas level becomes unsafe.</a:t>
            </a:r>
          </a:p>
          <a:p>
            <a:pPr algn="ctr" defTabSz="825500">
              <a:lnSpc>
                <a:spcPct val="80000"/>
              </a:lnSpc>
              <a:spcBef>
                <a:spcPts val="0"/>
              </a:spcBef>
              <a:defRPr spc="-252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pPr>
            <a:r>
              <a:t>🔹 Objective of the Project:</a:t>
            </a:r>
            <a:endParaRPr>
              <a:latin typeface="Graphik"/>
              <a:ea typeface="Graphik"/>
              <a:cs typeface="Graphik"/>
              <a:sym typeface="Graphik"/>
            </a:endParaRPr>
          </a:p>
          <a:p>
            <a:pPr marL="1303866" indent="-1164166" algn="ctr" defTabSz="825500">
              <a:spcBef>
                <a:spcPts val="0"/>
              </a:spcBef>
              <a:buClr>
                <a:srgbClr val="000000"/>
              </a:buClr>
              <a:buSzPct val="100000"/>
              <a:buFont typeface="Times Roman"/>
              <a:buChar char="•"/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To build a simple and low-cost gas detection system.</a:t>
            </a:r>
          </a:p>
          <a:p>
            <a:pPr marL="1303866" indent="-1164166" algn="ctr" defTabSz="825500">
              <a:spcBef>
                <a:spcPts val="0"/>
              </a:spcBef>
              <a:buClr>
                <a:srgbClr val="000000"/>
              </a:buClr>
              <a:buSzPct val="100000"/>
              <a:buFont typeface="Times Roman"/>
              <a:buChar char="•"/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To detect gases like LPG, Methane, or CO.</a:t>
            </a:r>
          </a:p>
          <a:p>
            <a:pPr marL="1303866" indent="-1164166" algn="ctr" defTabSz="825500">
              <a:spcBef>
                <a:spcPts val="0"/>
              </a:spcBef>
              <a:buClr>
                <a:srgbClr val="000000"/>
              </a:buClr>
              <a:buSzPct val="100000"/>
              <a:buFont typeface="Times Roman"/>
              <a:buChar char="•"/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To give alarm using LED and buzzer.</a:t>
            </a:r>
          </a:p>
          <a:p>
            <a:pPr marL="1303866" indent="-1164166" algn="ctr" defTabSz="825500">
              <a:spcBef>
                <a:spcPts val="0"/>
              </a:spcBef>
              <a:buClr>
                <a:srgbClr val="000000"/>
              </a:buClr>
              <a:buSzPct val="100000"/>
              <a:buFont typeface="Times Roman"/>
              <a:buChar char="•"/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To improve safety in homes and industries.</a:t>
            </a:r>
          </a:p>
          <a:p>
            <a:pPr algn="ctr" defTabSz="825500">
              <a:lnSpc>
                <a:spcPct val="80000"/>
              </a:lnSpc>
              <a:spcBef>
                <a:spcPts val="0"/>
              </a:spcBef>
              <a:defRPr spc="-252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pPr>
            <a:r>
              <a:t>🔹 Importance / Applications:</a:t>
            </a:r>
            <a:endParaRPr>
              <a:latin typeface="Graphik"/>
              <a:ea typeface="Graphik"/>
              <a:cs typeface="Graphik"/>
              <a:sym typeface="Graphik"/>
            </a:endParaRPr>
          </a:p>
          <a:p>
            <a:pPr marL="1303866" indent="-1164166" algn="ctr" defTabSz="825500">
              <a:spcBef>
                <a:spcPts val="0"/>
              </a:spcBef>
              <a:buClr>
                <a:srgbClr val="000000"/>
              </a:buClr>
              <a:buSzPct val="100000"/>
              <a:buFont typeface="Times Roman"/>
              <a:buChar char="•"/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Helps prevent fire or gas explosion.</a:t>
            </a:r>
          </a:p>
          <a:p>
            <a:pPr marL="1303866" indent="-1164166" algn="ctr" defTabSz="825500">
              <a:spcBef>
                <a:spcPts val="0"/>
              </a:spcBef>
              <a:buClr>
                <a:srgbClr val="000000"/>
              </a:buClr>
              <a:buSzPct val="100000"/>
              <a:buFont typeface="Times Roman"/>
              <a:buChar char="•"/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Ensures safety in kitchens and factories.</a:t>
            </a:r>
          </a:p>
          <a:p>
            <a:pPr marL="1303866" indent="-1164166" algn="ctr" defTabSz="825500">
              <a:spcBef>
                <a:spcPts val="0"/>
              </a:spcBef>
              <a:buClr>
                <a:srgbClr val="000000"/>
              </a:buClr>
              <a:buSzPct val="100000"/>
              <a:buFont typeface="Times Roman"/>
              <a:buChar char="•"/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Can be used in smart home safety systems.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⚙️ Components Used…"/>
          <p:cNvSpPr txBox="1"/>
          <p:nvPr/>
        </p:nvSpPr>
        <p:spPr>
          <a:xfrm>
            <a:off x="635684" y="471163"/>
            <a:ext cx="23229648" cy="12773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 defTabSz="2438338">
              <a:lnSpc>
                <a:spcPct val="90000"/>
              </a:lnSpc>
              <a:spcBef>
                <a:spcPts val="0"/>
              </a:spcBef>
              <a:defRPr spc="-348" sz="116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pPr>
            <a:r>
              <a:t>⚙️ Components Used</a:t>
            </a:r>
          </a:p>
          <a:p>
            <a:pPr algn="ctr" defTabSz="825500">
              <a:spcBef>
                <a:spcPts val="0"/>
              </a:spcBef>
              <a:defRPr sz="35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“These are the main components I have used in my project.”</a:t>
            </a:r>
          </a:p>
          <a:p>
            <a:pPr marL="1065741" indent="-926041" algn="ctr" defTabSz="825500">
              <a:spcBef>
                <a:spcPts val="0"/>
              </a:spcBef>
              <a:buClr>
                <a:srgbClr val="000000"/>
              </a:buClr>
              <a:buSzPct val="100000"/>
              <a:buFont typeface="Times Roman"/>
              <a:buChar char="•"/>
              <a:defRPr sz="35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LM393 Comparator</a:t>
            </a:r>
          </a:p>
          <a:p>
            <a:pPr marL="1065741" indent="-926041" algn="ctr" defTabSz="825500">
              <a:spcBef>
                <a:spcPts val="0"/>
              </a:spcBef>
              <a:buClr>
                <a:srgbClr val="000000"/>
              </a:buClr>
              <a:buSzPct val="100000"/>
              <a:buFont typeface="Times Roman"/>
              <a:buChar char="•"/>
              <a:defRPr sz="35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MQ-2 or MQ-135 Gas Sensor</a:t>
            </a:r>
          </a:p>
          <a:p>
            <a:pPr marL="1065741" indent="-926041" algn="ctr" defTabSz="825500">
              <a:spcBef>
                <a:spcPts val="0"/>
              </a:spcBef>
              <a:buClr>
                <a:srgbClr val="000000"/>
              </a:buClr>
              <a:buSzPct val="100000"/>
              <a:buFont typeface="Times Roman"/>
              <a:buChar char="•"/>
              <a:defRPr sz="35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Resistors</a:t>
            </a:r>
          </a:p>
          <a:p>
            <a:pPr marL="1065741" indent="-926041" algn="ctr" defTabSz="825500">
              <a:spcBef>
                <a:spcPts val="0"/>
              </a:spcBef>
              <a:buClr>
                <a:srgbClr val="000000"/>
              </a:buClr>
              <a:buSzPct val="100000"/>
              <a:buFont typeface="Times Roman"/>
              <a:buChar char="•"/>
              <a:defRPr sz="35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LEDs (indicator)</a:t>
            </a:r>
          </a:p>
          <a:p>
            <a:pPr marL="1065741" indent="-926041" algn="ctr" defTabSz="825500">
              <a:spcBef>
                <a:spcPts val="0"/>
              </a:spcBef>
              <a:buClr>
                <a:srgbClr val="000000"/>
              </a:buClr>
              <a:buSzPct val="100000"/>
              <a:buFont typeface="Times Roman"/>
              <a:buChar char="•"/>
              <a:defRPr sz="35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Buzzer (for alarm)</a:t>
            </a:r>
          </a:p>
          <a:p>
            <a:pPr algn="ctr" defTabSz="825500">
              <a:spcBef>
                <a:spcPts val="0"/>
              </a:spcBef>
              <a:defRPr sz="35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rPr b="1">
                <a:latin typeface="Graphik"/>
                <a:ea typeface="Graphik"/>
                <a:cs typeface="Graphik"/>
                <a:sym typeface="Graphik"/>
              </a:rPr>
              <a:t>Buck Converter (5V Regulator)</a:t>
            </a:r>
            <a:r>
              <a:t> – Steps down voltage for stable power supply.</a:t>
            </a:r>
          </a:p>
          <a:p>
            <a:pPr algn="ctr" defTabSz="825500">
              <a:spcBef>
                <a:spcPts val="0"/>
              </a:spcBef>
              <a:defRPr sz="3500">
                <a:latin typeface="Graphik Medium"/>
                <a:ea typeface="Graphik Medium"/>
                <a:cs typeface="Graphik Medium"/>
                <a:sym typeface="Graphik Medium"/>
              </a:defRPr>
            </a:pPr>
          </a:p>
          <a:p>
            <a:pPr algn="ctr" defTabSz="825500">
              <a:spcBef>
                <a:spcPts val="0"/>
              </a:spcBef>
              <a:defRPr sz="3500">
                <a:latin typeface="Graphik Medium"/>
                <a:ea typeface="Graphik Medium"/>
                <a:cs typeface="Graphik Medium"/>
                <a:sym typeface="Graphik Medium"/>
              </a:defRPr>
            </a:pPr>
          </a:p>
          <a:p>
            <a:pPr algn="ctr" defTabSz="825500">
              <a:spcBef>
                <a:spcPts val="0"/>
              </a:spcBef>
              <a:defRPr sz="3500">
                <a:latin typeface="Graphik Medium"/>
                <a:ea typeface="Graphik Medium"/>
                <a:cs typeface="Graphik Medium"/>
                <a:sym typeface="Graphik Medium"/>
              </a:defRPr>
            </a:pPr>
          </a:p>
          <a:p>
            <a:pPr algn="ctr" defTabSz="825500">
              <a:lnSpc>
                <a:spcPct val="80000"/>
              </a:lnSpc>
              <a:spcBef>
                <a:spcPts val="0"/>
              </a:spcBef>
              <a:defRPr spc="-252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pPr>
            <a:r>
              <a:t>Arduino UNO</a:t>
            </a:r>
          </a:p>
          <a:p>
            <a:pPr marL="1303866" indent="-1164166" algn="ctr" defTabSz="825500">
              <a:spcBef>
                <a:spcPts val="0"/>
              </a:spcBef>
              <a:buClr>
                <a:srgbClr val="000000"/>
              </a:buClr>
              <a:buSzPct val="100000"/>
              <a:buFont typeface="Times Roman"/>
              <a:buChar char="•"/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Used to demonstrate how the comparator and circuit work.</a:t>
            </a:r>
          </a:p>
          <a:p>
            <a:pPr marL="1303866" indent="-1164166" algn="ctr" defTabSz="825500">
              <a:spcBef>
                <a:spcPts val="0"/>
              </a:spcBef>
              <a:buClr>
                <a:srgbClr val="000000"/>
              </a:buClr>
              <a:buSzPct val="100000"/>
              <a:buFont typeface="Times Roman"/>
              <a:buChar char="•"/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Helps to easily monitor sensor output and fault conditions.</a:t>
            </a:r>
          </a:p>
          <a:p>
            <a:pPr marL="1303866" indent="-1164166" algn="ctr" defTabSz="825500">
              <a:spcBef>
                <a:spcPts val="0"/>
              </a:spcBef>
              <a:buClr>
                <a:srgbClr val="000000"/>
              </a:buClr>
              <a:buSzPct val="100000"/>
              <a:buFont typeface="Times Roman"/>
              <a:buChar char="•"/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Makes testing and debugging simple.</a:t>
            </a:r>
          </a:p>
          <a:p>
            <a:pPr marL="1303866" indent="-1164166" algn="ctr" defTabSz="825500">
              <a:spcBef>
                <a:spcPts val="0"/>
              </a:spcBef>
              <a:buClr>
                <a:srgbClr val="000000"/>
              </a:buClr>
              <a:buSzPct val="100000"/>
              <a:buFont typeface="Times Roman"/>
              <a:buChar char="•"/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The circuit can also work independently without Arduino.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LM 393 Comperator"/>
          <p:cNvSpPr txBox="1"/>
          <p:nvPr/>
        </p:nvSpPr>
        <p:spPr>
          <a:xfrm>
            <a:off x="6237047" y="-18160"/>
            <a:ext cx="13663321" cy="2055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2438338">
              <a:lnSpc>
                <a:spcPct val="90000"/>
              </a:lnSpc>
              <a:spcBef>
                <a:spcPts val="0"/>
              </a:spcBef>
              <a:defRPr spc="-348" sz="116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</a:lstStyle>
          <a:p>
            <a:pPr/>
            <a:r>
              <a:t>LM 393 Comperator</a:t>
            </a:r>
          </a:p>
        </p:txBody>
      </p:sp>
      <p:pic>
        <p:nvPicPr>
          <p:cNvPr id="182" name="Image 37.jpeg" descr="Image 37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773452" y="2784834"/>
            <a:ext cx="9244360" cy="924436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Comperator OUTPUT"/>
          <p:cNvSpPr txBox="1"/>
          <p:nvPr/>
        </p:nvSpPr>
        <p:spPr>
          <a:xfrm>
            <a:off x="4987620" y="-18160"/>
            <a:ext cx="14408760" cy="2055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2438338">
              <a:lnSpc>
                <a:spcPct val="90000"/>
              </a:lnSpc>
              <a:spcBef>
                <a:spcPts val="0"/>
              </a:spcBef>
              <a:defRPr spc="-348" sz="116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</a:lstStyle>
          <a:p>
            <a:pPr/>
            <a:r>
              <a:t>Comperator OUTPUT</a:t>
            </a:r>
          </a:p>
        </p:txBody>
      </p:sp>
      <p:sp>
        <p:nvSpPr>
          <p:cNvPr id="185" name="HIGH"/>
          <p:cNvSpPr txBox="1"/>
          <p:nvPr/>
        </p:nvSpPr>
        <p:spPr>
          <a:xfrm>
            <a:off x="4616286" y="3347276"/>
            <a:ext cx="2214576" cy="11729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825500">
              <a:spcBef>
                <a:spcPts val="0"/>
              </a:spcBef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HIGH</a:t>
            </a:r>
          </a:p>
        </p:txBody>
      </p:sp>
      <p:sp>
        <p:nvSpPr>
          <p:cNvPr id="186" name="LOW"/>
          <p:cNvSpPr txBox="1"/>
          <p:nvPr/>
        </p:nvSpPr>
        <p:spPr>
          <a:xfrm>
            <a:off x="17938318" y="3347276"/>
            <a:ext cx="1957731" cy="11729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825500">
              <a:spcBef>
                <a:spcPts val="0"/>
              </a:spcBef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LOW</a:t>
            </a:r>
          </a:p>
        </p:txBody>
      </p:sp>
      <p:pic>
        <p:nvPicPr>
          <p:cNvPr id="187" name="Image 26-10-25 at 12.56 AM.jpeg" descr="Image 26-10-25 at 12.56 AM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20939" y="5451864"/>
            <a:ext cx="8960989" cy="469284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" name="Image 26-10-25 at 12.55 AM.jpeg" descr="Image 26-10-25 at 12.55 AM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857344" y="5499875"/>
            <a:ext cx="8777635" cy="459681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WhatsApp Image 2025-10-26 at 00.24.01.jpeg" descr="WhatsApp Image 2025-10-26 at 00.24.01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43637" y="571140"/>
            <a:ext cx="7340601" cy="4699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1" name="WhatsApp Image 2025-10-26 at 00.24.01 (1).jpeg" descr="WhatsApp Image 2025-10-26 at 00.24.01 (1)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629697" y="602890"/>
            <a:ext cx="6845301" cy="4635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2" name="WhatsApp Image 2025-10-26 at 00.42.47.jpeg" descr="WhatsApp Image 2025-10-26 at 00.42.47.jpe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632450" y="6023703"/>
            <a:ext cx="13119100" cy="71501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WhatsApp Image 2025-10-26 at 00.42.47 (1).jpeg" descr="WhatsApp Image 2025-10-26 at 00.42.47 (1)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6711" y="330600"/>
            <a:ext cx="24090578" cy="13054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WhatsApp Image 2025-10-26 at 00.42.47 (2).jpeg" descr="WhatsApp Image 2025-10-26 at 00.42.47 (2)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01495" y="347578"/>
            <a:ext cx="22919954" cy="1310026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WhatsApp Image 2025-10-26 at 00.42.48.jpeg" descr="WhatsApp Image 2025-10-26 at 00.42.48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0271" y="749799"/>
            <a:ext cx="24063458" cy="117587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WhatsApp Image 2025-10-26 at 00.57.02.jpeg" descr="WhatsApp Image 2025-10-26 at 00.57.02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72242" y="2455402"/>
            <a:ext cx="22337061" cy="88051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WhatsApp Image 2025-10-25 at 22.19.39.jpeg" descr="WhatsApp Image 2025-10-25 at 22.19.39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720" y="32433"/>
            <a:ext cx="12394035" cy="66327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03" name="WhatsApp Image 2025-10-25 at 22.19.25.jpeg" descr="WhatsApp Image 2025-10-25 at 22.19.25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6720" y="6815859"/>
            <a:ext cx="12394035" cy="6574649"/>
          </a:xfrm>
          <a:prstGeom prst="rect">
            <a:avLst/>
          </a:prstGeom>
          <a:ln w="12700">
            <a:miter lim="400000"/>
          </a:ln>
        </p:spPr>
      </p:pic>
      <p:pic>
        <p:nvPicPr>
          <p:cNvPr id="204" name="WhatsApp Image 2025-10-26 at 00.57.02.jpeg" descr="WhatsApp Image 2025-10-26 at 00.57.02.jpe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521750" y="189582"/>
            <a:ext cx="11851935" cy="4671995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" name="WhatsApp Image 2025-10-26 at 00.42.48.jpeg" descr="WhatsApp Image 2025-10-26 at 00.42.48.jpe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2681241" y="6457228"/>
            <a:ext cx="11851936" cy="579154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1️⃣ Previous Circuit Issues:…"/>
          <p:cNvSpPr txBox="1"/>
          <p:nvPr/>
        </p:nvSpPr>
        <p:spPr>
          <a:xfrm>
            <a:off x="255037" y="1918746"/>
            <a:ext cx="23873926" cy="12365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825500">
              <a:spcBef>
                <a:spcPts val="0"/>
              </a:spcBef>
              <a:defRPr sz="51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1️⃣ Previous Circuit Issues:</a:t>
            </a:r>
          </a:p>
          <a:p>
            <a:pPr marL="1303866" indent="-1164166" algn="ctr" defTabSz="825500">
              <a:spcBef>
                <a:spcPts val="0"/>
              </a:spcBef>
              <a:buClr>
                <a:srgbClr val="000000"/>
              </a:buClr>
              <a:buSzPct val="100000"/>
              <a:buFont typeface="Times Roman"/>
              <a:buChar char="•"/>
              <a:defRPr sz="51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Tried using 555 timer + OP-AMP + BJT + Diode circuit.</a:t>
            </a:r>
          </a:p>
          <a:p>
            <a:pPr marL="1303866" indent="-1164166" algn="ctr" defTabSz="825500">
              <a:spcBef>
                <a:spcPts val="0"/>
              </a:spcBef>
              <a:buClr>
                <a:srgbClr val="000000"/>
              </a:buClr>
              <a:buSzPct val="100000"/>
              <a:buFont typeface="Times Roman"/>
              <a:buChar char="•"/>
              <a:defRPr sz="51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Switching was </a:t>
            </a:r>
            <a:r>
              <a:rPr b="1">
                <a:latin typeface="Graphik"/>
                <a:ea typeface="Graphik"/>
                <a:cs typeface="Graphik"/>
                <a:sym typeface="Graphik"/>
              </a:rPr>
              <a:t>not reliable</a:t>
            </a:r>
            <a:r>
              <a:t>.</a:t>
            </a:r>
          </a:p>
          <a:p>
            <a:pPr marL="1303866" indent="-1164166" algn="ctr" defTabSz="825500">
              <a:spcBef>
                <a:spcPts val="0"/>
              </a:spcBef>
              <a:buClr>
                <a:srgbClr val="000000"/>
              </a:buClr>
              <a:buSzPct val="100000"/>
              <a:buFont typeface="Times Roman"/>
              <a:buChar char="•"/>
              <a:defRPr sz="51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rPr b="1">
                <a:latin typeface="Graphik"/>
                <a:ea typeface="Graphik"/>
                <a:cs typeface="Graphik"/>
                <a:sym typeface="Graphik"/>
              </a:rPr>
              <a:t>Diode voltage drop</a:t>
            </a:r>
            <a:r>
              <a:t> too low → incorrect triggering.</a:t>
            </a:r>
          </a:p>
          <a:p>
            <a:pPr marL="1303866" indent="-1164166" algn="ctr" defTabSz="825500">
              <a:spcBef>
                <a:spcPts val="0"/>
              </a:spcBef>
              <a:buClr>
                <a:srgbClr val="000000"/>
              </a:buClr>
              <a:buSzPct val="100000"/>
              <a:buFont typeface="Times Roman"/>
              <a:buChar char="•"/>
              <a:defRPr sz="5100">
                <a:latin typeface="Graphik Medium"/>
                <a:ea typeface="Graphik Medium"/>
                <a:cs typeface="Graphik Medium"/>
                <a:sym typeface="Graphik Medium"/>
              </a:defRPr>
            </a:pPr>
          </a:p>
          <a:p>
            <a:pPr algn="ctr" defTabSz="825500">
              <a:spcBef>
                <a:spcPts val="0"/>
              </a:spcBef>
              <a:defRPr sz="51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2️⃣ Sensor Problems:</a:t>
            </a:r>
          </a:p>
          <a:p>
            <a:pPr marL="1303866" indent="-1164166" algn="ctr" defTabSz="825500">
              <a:spcBef>
                <a:spcPts val="0"/>
              </a:spcBef>
              <a:buClr>
                <a:srgbClr val="000000"/>
              </a:buClr>
              <a:buSzPct val="100000"/>
              <a:buFont typeface="Times Roman"/>
              <a:buChar char="•"/>
              <a:defRPr sz="51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One sensor got </a:t>
            </a:r>
            <a:r>
              <a:rPr b="1">
                <a:latin typeface="Graphik"/>
                <a:ea typeface="Graphik"/>
                <a:cs typeface="Graphik"/>
                <a:sym typeface="Graphik"/>
              </a:rPr>
              <a:t>completely damaged</a:t>
            </a:r>
            <a:r>
              <a:t>.</a:t>
            </a:r>
          </a:p>
          <a:p>
            <a:pPr marL="1303866" indent="-1164166" algn="ctr" defTabSz="825500">
              <a:spcBef>
                <a:spcPts val="0"/>
              </a:spcBef>
              <a:buClr>
                <a:srgbClr val="000000"/>
              </a:buClr>
              <a:buSzPct val="100000"/>
              <a:buFont typeface="Times Roman"/>
              <a:buChar char="•"/>
              <a:defRPr sz="51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Another sensor had </a:t>
            </a:r>
            <a:r>
              <a:rPr b="1">
                <a:latin typeface="Graphik"/>
                <a:ea typeface="Graphik"/>
                <a:cs typeface="Graphik"/>
                <a:sym typeface="Graphik"/>
              </a:rPr>
              <a:t>high initial voltage</a:t>
            </a:r>
            <a:r>
              <a:t> that kept increasing on each test.</a:t>
            </a:r>
          </a:p>
          <a:p>
            <a:pPr marL="1303866" indent="-1164166" algn="ctr" defTabSz="825500">
              <a:spcBef>
                <a:spcPts val="0"/>
              </a:spcBef>
              <a:buClr>
                <a:srgbClr val="000000"/>
              </a:buClr>
              <a:buSzPct val="100000"/>
              <a:buFont typeface="Times Roman"/>
              <a:buChar char="•"/>
              <a:defRPr sz="51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Sensor replaced with </a:t>
            </a:r>
            <a:r>
              <a:rPr b="1">
                <a:latin typeface="Graphik"/>
                <a:ea typeface="Graphik"/>
                <a:cs typeface="Graphik"/>
                <a:sym typeface="Graphik"/>
              </a:rPr>
              <a:t>a better model</a:t>
            </a:r>
            <a:r>
              <a:t> for accurate detection.</a:t>
            </a:r>
          </a:p>
          <a:p>
            <a:pPr marL="1303866" indent="-1164166" algn="ctr" defTabSz="825500">
              <a:spcBef>
                <a:spcPts val="0"/>
              </a:spcBef>
              <a:buClr>
                <a:srgbClr val="000000"/>
              </a:buClr>
              <a:buSzPct val="100000"/>
              <a:buFont typeface="Times Roman"/>
              <a:buChar char="•"/>
              <a:defRPr sz="5100">
                <a:latin typeface="Graphik Medium"/>
                <a:ea typeface="Graphik Medium"/>
                <a:cs typeface="Graphik Medium"/>
                <a:sym typeface="Graphik Medium"/>
              </a:defRPr>
            </a:pPr>
          </a:p>
          <a:p>
            <a:pPr algn="ctr" defTabSz="825500">
              <a:spcBef>
                <a:spcPts val="0"/>
              </a:spcBef>
              <a:defRPr sz="51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3️⃣ New Circuit Design:</a:t>
            </a:r>
          </a:p>
          <a:p>
            <a:pPr marL="1303866" indent="-1164166" algn="ctr" defTabSz="825500">
              <a:spcBef>
                <a:spcPts val="0"/>
              </a:spcBef>
              <a:buClr>
                <a:srgbClr val="000000"/>
              </a:buClr>
              <a:buSzPct val="100000"/>
              <a:buFont typeface="Times Roman"/>
              <a:buChar char="•"/>
              <a:defRPr sz="51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rPr b="1">
                <a:latin typeface="Graphik"/>
                <a:ea typeface="Graphik"/>
                <a:cs typeface="Graphik"/>
                <a:sym typeface="Graphik"/>
              </a:rPr>
              <a:t>LM393 comparator-based circuit</a:t>
            </a:r>
            <a:r>
              <a:t> used for stable HIGH/LOW output.</a:t>
            </a:r>
          </a:p>
          <a:p>
            <a:pPr marL="1303866" indent="-1164166" algn="ctr" defTabSz="825500">
              <a:spcBef>
                <a:spcPts val="0"/>
              </a:spcBef>
              <a:buClr>
                <a:srgbClr val="000000"/>
              </a:buClr>
              <a:buSzPct val="100000"/>
              <a:buFont typeface="Times Roman"/>
              <a:buChar char="•"/>
              <a:defRPr sz="51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LED &amp; buzzer trigger reliably.</a:t>
            </a:r>
          </a:p>
        </p:txBody>
      </p:sp>
      <p:sp>
        <p:nvSpPr>
          <p:cNvPr id="208" name="Problems Faced"/>
          <p:cNvSpPr txBox="1"/>
          <p:nvPr/>
        </p:nvSpPr>
        <p:spPr>
          <a:xfrm>
            <a:off x="6572858" y="-259568"/>
            <a:ext cx="10845090" cy="2055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2438338">
              <a:lnSpc>
                <a:spcPct val="90000"/>
              </a:lnSpc>
              <a:spcBef>
                <a:spcPts val="0"/>
              </a:spcBef>
              <a:defRPr spc="-348" sz="116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</a:lstStyle>
          <a:p>
            <a:pPr/>
            <a:r>
              <a:t>Problems Faced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WhatsApp Image 2025-10-02 at 21.35.51.jpeg" descr="WhatsApp Image 2025-10-02 at 21.35.51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53044" y="367564"/>
            <a:ext cx="23077912" cy="1240437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📈Applications:…"/>
          <p:cNvSpPr txBox="1"/>
          <p:nvPr/>
        </p:nvSpPr>
        <p:spPr>
          <a:xfrm>
            <a:off x="-566014" y="1877053"/>
            <a:ext cx="24802116" cy="9961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 defTabSz="2438338">
              <a:lnSpc>
                <a:spcPct val="90000"/>
              </a:lnSpc>
              <a:spcBef>
                <a:spcPts val="0"/>
              </a:spcBef>
              <a:defRPr spc="-348" sz="116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pPr>
            <a:r>
              <a:t>📈Applications:</a:t>
            </a:r>
          </a:p>
          <a:p>
            <a:pPr/>
            <a:r>
              <a:t>   “This system can be used in homes, industries, and laboratories for safety purposes.”</a:t>
            </a:r>
          </a:p>
          <a:p>
            <a:pPr algn="ctr" defTabSz="825500">
              <a:lnSpc>
                <a:spcPct val="80000"/>
              </a:lnSpc>
              <a:spcBef>
                <a:spcPts val="0"/>
              </a:spcBef>
              <a:defRPr spc="-252" sz="8400">
                <a:latin typeface="+mn-lt"/>
                <a:ea typeface="+mn-ea"/>
                <a:cs typeface="+mn-cs"/>
                <a:sym typeface="Graphik Semibold"/>
              </a:defRPr>
            </a:pPr>
          </a:p>
          <a:p>
            <a:pPr marL="1833033" indent="-1693333" algn="ctr" defTabSz="825500">
              <a:spcBef>
                <a:spcPts val="0"/>
              </a:spcBef>
              <a:buClr>
                <a:srgbClr val="000000"/>
              </a:buClr>
              <a:buSzPct val="100000"/>
              <a:buFont typeface="Times Roman"/>
              <a:buChar char="•"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LPG leakage detection</a:t>
            </a:r>
          </a:p>
          <a:p>
            <a:pPr marL="1833033" indent="-1693333" algn="ctr" defTabSz="825500">
              <a:spcBef>
                <a:spcPts val="0"/>
              </a:spcBef>
              <a:buClr>
                <a:srgbClr val="000000"/>
              </a:buClr>
              <a:buSzPct val="100000"/>
              <a:buFont typeface="Times Roman"/>
              <a:buChar char="•"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Industrial gas monitoring</a:t>
            </a:r>
          </a:p>
          <a:p>
            <a:pPr marL="1833033" indent="-1693333" algn="ctr" defTabSz="825500">
              <a:spcBef>
                <a:spcPts val="0"/>
              </a:spcBef>
              <a:buClr>
                <a:srgbClr val="000000"/>
              </a:buClr>
              <a:buSzPct val="100000"/>
              <a:buFont typeface="Times Roman"/>
              <a:buChar char="•"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Fire prevention systems</a:t>
            </a:r>
          </a:p>
          <a:p>
            <a:pPr marL="1833033" indent="-1693333" algn="ctr" defTabSz="825500">
              <a:spcBef>
                <a:spcPts val="0"/>
              </a:spcBef>
              <a:buClr>
                <a:srgbClr val="000000"/>
              </a:buClr>
              <a:buSzPct val="100000"/>
              <a:buFont typeface="Times Roman"/>
              <a:buChar char="•"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Smart home safety devices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💡Advantages &amp; Limitations…"/>
          <p:cNvSpPr txBox="1"/>
          <p:nvPr/>
        </p:nvSpPr>
        <p:spPr>
          <a:xfrm>
            <a:off x="2240178" y="933545"/>
            <a:ext cx="18617693" cy="11848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2438338">
              <a:lnSpc>
                <a:spcPct val="90000"/>
              </a:lnSpc>
              <a:spcBef>
                <a:spcPts val="0"/>
              </a:spcBef>
              <a:defRPr spc="-348" sz="116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pPr>
            <a:r>
              <a:t>💡Advantages &amp; Limitations</a:t>
            </a:r>
          </a:p>
          <a:p>
            <a:pPr algn="ctr" defTabSz="2438338">
              <a:lnSpc>
                <a:spcPct val="90000"/>
              </a:lnSpc>
              <a:spcBef>
                <a:spcPts val="0"/>
              </a:spcBef>
              <a:defRPr spc="-348" sz="116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pPr>
          </a:p>
          <a:p>
            <a:pPr algn="ctr" defTabSz="825500">
              <a:lnSpc>
                <a:spcPct val="80000"/>
              </a:lnSpc>
              <a:spcBef>
                <a:spcPts val="0"/>
              </a:spcBef>
              <a:defRPr spc="-252" sz="8400">
                <a:latin typeface="+mn-lt"/>
                <a:ea typeface="+mn-ea"/>
                <a:cs typeface="+mn-cs"/>
                <a:sym typeface="Graphik Semibold"/>
              </a:defRPr>
            </a:pPr>
            <a:r>
              <a:t>Advantages:</a:t>
            </a:r>
          </a:p>
          <a:p>
            <a:pPr marL="1303866" indent="-1164166" algn="ctr" defTabSz="825500">
              <a:spcBef>
                <a:spcPts val="0"/>
              </a:spcBef>
              <a:buClr>
                <a:srgbClr val="000000"/>
              </a:buClr>
              <a:buSzPct val="100000"/>
              <a:buFont typeface="Times Roman"/>
              <a:buChar char="•"/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Low cost</a:t>
            </a:r>
          </a:p>
          <a:p>
            <a:pPr marL="1303866" indent="-1164166" algn="ctr" defTabSz="825500">
              <a:spcBef>
                <a:spcPts val="0"/>
              </a:spcBef>
              <a:buClr>
                <a:srgbClr val="000000"/>
              </a:buClr>
              <a:buSzPct val="100000"/>
              <a:buFont typeface="Times Roman"/>
              <a:buChar char="•"/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Simple circuit</a:t>
            </a:r>
          </a:p>
          <a:p>
            <a:pPr marL="1303866" indent="-1164166" algn="ctr" defTabSz="825500">
              <a:spcBef>
                <a:spcPts val="0"/>
              </a:spcBef>
              <a:buClr>
                <a:srgbClr val="000000"/>
              </a:buClr>
              <a:buSzPct val="100000"/>
              <a:buFont typeface="Times Roman"/>
              <a:buChar char="•"/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Real-time response</a:t>
            </a:r>
          </a:p>
          <a:p>
            <a:pPr marL="1303866" indent="-1164166" algn="ctr" defTabSz="825500">
              <a:spcBef>
                <a:spcPts val="0"/>
              </a:spcBef>
              <a:buClr>
                <a:srgbClr val="000000"/>
              </a:buClr>
              <a:buSzPct val="100000"/>
              <a:buFont typeface="Times Roman"/>
              <a:buChar char="•"/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pPr>
          </a:p>
          <a:p>
            <a:pPr algn="ctr" defTabSz="825500">
              <a:lnSpc>
                <a:spcPct val="80000"/>
              </a:lnSpc>
              <a:spcBef>
                <a:spcPts val="0"/>
              </a:spcBef>
              <a:defRPr spc="-252" sz="8400">
                <a:latin typeface="+mn-lt"/>
                <a:ea typeface="+mn-ea"/>
                <a:cs typeface="+mn-cs"/>
                <a:sym typeface="Graphik Semibold"/>
              </a:defRPr>
            </a:pPr>
            <a:r>
              <a:t>Limitations:</a:t>
            </a:r>
            <a:endParaRPr>
              <a:latin typeface="Graphik"/>
              <a:ea typeface="Graphik"/>
              <a:cs typeface="Graphik"/>
              <a:sym typeface="Graphik"/>
            </a:endParaRPr>
          </a:p>
          <a:p>
            <a:pPr marL="1303866" indent="-1164166" algn="ctr" defTabSz="825500">
              <a:spcBef>
                <a:spcPts val="0"/>
              </a:spcBef>
              <a:buClr>
                <a:srgbClr val="000000"/>
              </a:buClr>
              <a:buSzPct val="100000"/>
              <a:buFont typeface="Times Roman"/>
              <a:buChar char="•"/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Needs calibration</a:t>
            </a:r>
          </a:p>
          <a:p>
            <a:pPr marL="1303866" indent="-1164166" algn="ctr" defTabSz="825500">
              <a:spcBef>
                <a:spcPts val="0"/>
              </a:spcBef>
              <a:buClr>
                <a:srgbClr val="000000"/>
              </a:buClr>
              <a:buSzPct val="100000"/>
              <a:buFont typeface="Times Roman"/>
              <a:buChar char="•"/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Sensitive to humidity and temperature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Conclusion:…"/>
          <p:cNvSpPr txBox="1"/>
          <p:nvPr/>
        </p:nvSpPr>
        <p:spPr>
          <a:xfrm>
            <a:off x="431063" y="236458"/>
            <a:ext cx="23521874" cy="4078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2438338">
              <a:lnSpc>
                <a:spcPct val="90000"/>
              </a:lnSpc>
              <a:spcBef>
                <a:spcPts val="0"/>
              </a:spcBef>
              <a:defRPr spc="-348" sz="116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pPr>
            <a:r>
              <a:t> Conclusion:</a:t>
            </a:r>
          </a:p>
          <a:p>
            <a:pPr algn="ctr" defTabSz="825500">
              <a:spcBef>
                <a:spcPts val="0"/>
              </a:spcBef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“In conclusion, this gas detector sensor is a simple, low-cost system that can play a vital role in detecting harmful gases and preventing accidents.”</a:t>
            </a:r>
          </a:p>
        </p:txBody>
      </p:sp>
      <p:sp>
        <p:nvSpPr>
          <p:cNvPr id="217" name="I am thankful to my course teacher Md. Sharif Uddin &amp;…"/>
          <p:cNvSpPr txBox="1"/>
          <p:nvPr/>
        </p:nvSpPr>
        <p:spPr>
          <a:xfrm>
            <a:off x="454913" y="7911720"/>
            <a:ext cx="23474173" cy="54909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825500">
              <a:spcBef>
                <a:spcPts val="0"/>
              </a:spcBef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I am thankful to my course teacher </a:t>
            </a:r>
            <a:r>
              <a:rPr b="1">
                <a:latin typeface="Graphik"/>
                <a:ea typeface="Graphik"/>
                <a:cs typeface="Graphik"/>
                <a:sym typeface="Graphik"/>
              </a:rPr>
              <a:t>Md. Sharif Uddin &amp; </a:t>
            </a:r>
            <a:endParaRPr b="1">
              <a:latin typeface="Graphik"/>
              <a:ea typeface="Graphik"/>
              <a:cs typeface="Graphik"/>
              <a:sym typeface="Graphik"/>
            </a:endParaRPr>
          </a:p>
          <a:p>
            <a:pPr algn="ctr" defTabSz="825500">
              <a:spcBef>
                <a:spcPts val="0"/>
              </a:spcBef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Proctor sir Md. Khairul Alam for the constant guidance and</a:t>
            </a:r>
          </a:p>
          <a:p>
            <a:pPr algn="ctr" defTabSz="825500">
              <a:spcBef>
                <a:spcPts val="0"/>
              </a:spcBef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support.</a:t>
            </a:r>
          </a:p>
          <a:p>
            <a:pPr algn="ctr" defTabSz="825500">
              <a:spcBef>
                <a:spcPts val="0"/>
              </a:spcBef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Thanks to my Group member and the Project Lab, UAP, for their help during the development and testing of my project.</a:t>
            </a:r>
          </a:p>
        </p:txBody>
      </p:sp>
      <p:sp>
        <p:nvSpPr>
          <p:cNvPr id="218" name="Acknowledgment:"/>
          <p:cNvSpPr txBox="1"/>
          <p:nvPr/>
        </p:nvSpPr>
        <p:spPr>
          <a:xfrm>
            <a:off x="5717229" y="5830316"/>
            <a:ext cx="12446458" cy="2055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2438338">
              <a:lnSpc>
                <a:spcPct val="90000"/>
              </a:lnSpc>
              <a:spcBef>
                <a:spcPts val="0"/>
              </a:spcBef>
              <a:defRPr spc="-348" sz="116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</a:lstStyle>
          <a:p>
            <a:pPr/>
            <a:r>
              <a:t>Acknowledgment: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🔹 Future Work (Fire Fighting BOT)…"/>
          <p:cNvSpPr txBox="1"/>
          <p:nvPr/>
        </p:nvSpPr>
        <p:spPr>
          <a:xfrm>
            <a:off x="77372" y="1205598"/>
            <a:ext cx="24229256" cy="10521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2438338">
              <a:lnSpc>
                <a:spcPct val="90000"/>
              </a:lnSpc>
              <a:spcBef>
                <a:spcPts val="0"/>
              </a:spcBef>
              <a:defRPr spc="-348" sz="116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pPr>
            <a:r>
              <a:t>🔹 Future Work (Fire Fighting BOT)</a:t>
            </a:r>
          </a:p>
          <a:p>
            <a:pPr algn="ctr" defTabSz="825500">
              <a:lnSpc>
                <a:spcPct val="80000"/>
              </a:lnSpc>
              <a:spcBef>
                <a:spcPts val="0"/>
              </a:spcBef>
              <a:defRPr spc="-183" sz="61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pPr>
          </a:p>
          <a:p>
            <a:pPr algn="ctr" defTabSz="825500">
              <a:lnSpc>
                <a:spcPct val="80000"/>
              </a:lnSpc>
              <a:spcBef>
                <a:spcPts val="0"/>
              </a:spcBef>
              <a:defRPr spc="-183" sz="61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pPr>
          </a:p>
          <a:p>
            <a:pPr algn="ctr" defTabSz="825500">
              <a:lnSpc>
                <a:spcPct val="80000"/>
              </a:lnSpc>
              <a:spcBef>
                <a:spcPts val="0"/>
              </a:spcBef>
              <a:defRPr spc="-183" sz="61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pPr>
          </a:p>
          <a:p>
            <a:pPr marL="1833033" indent="-1693333" algn="ctr" defTabSz="825500">
              <a:spcBef>
                <a:spcPts val="0"/>
              </a:spcBef>
              <a:buClr>
                <a:srgbClr val="000000"/>
              </a:buClr>
              <a:buSzPct val="100000"/>
              <a:buFont typeface="Times Roman"/>
              <a:buChar char="•"/>
              <a:defRPr sz="61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Make a </a:t>
            </a:r>
            <a:r>
              <a:rPr b="1">
                <a:latin typeface="Graphik"/>
                <a:ea typeface="Graphik"/>
                <a:cs typeface="Graphik"/>
                <a:sym typeface="Graphik"/>
              </a:rPr>
              <a:t>small moving vehicle</a:t>
            </a:r>
            <a:r>
              <a:t> that can find gas leaks and fire.</a:t>
            </a:r>
          </a:p>
          <a:p>
            <a:pPr marL="1833033" indent="-1693333" algn="ctr" defTabSz="825500">
              <a:spcBef>
                <a:spcPts val="0"/>
              </a:spcBef>
              <a:buClr>
                <a:srgbClr val="000000"/>
              </a:buClr>
              <a:buSzPct val="100000"/>
              <a:buFont typeface="Times Roman"/>
              <a:buChar char="•"/>
              <a:defRPr sz="61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Vehicle will </a:t>
            </a:r>
            <a:r>
              <a:rPr b="1">
                <a:latin typeface="Graphik"/>
                <a:ea typeface="Graphik"/>
                <a:cs typeface="Graphik"/>
                <a:sym typeface="Graphik"/>
              </a:rPr>
              <a:t>send alerts</a:t>
            </a:r>
            <a:r>
              <a:t> when it detects danger.</a:t>
            </a:r>
          </a:p>
          <a:p>
            <a:pPr marL="1833033" indent="-1693333" algn="ctr" defTabSz="825500">
              <a:spcBef>
                <a:spcPts val="0"/>
              </a:spcBef>
              <a:buClr>
                <a:srgbClr val="000000"/>
              </a:buClr>
              <a:buSzPct val="100000"/>
              <a:buFont typeface="Times Roman"/>
              <a:buChar char="•"/>
              <a:defRPr sz="61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Try using special frequencies to help reduce fire.</a:t>
            </a:r>
          </a:p>
          <a:p>
            <a:pPr marL="1833033" indent="-1693333" algn="ctr" defTabSz="825500">
              <a:spcBef>
                <a:spcPts val="0"/>
              </a:spcBef>
              <a:buClr>
                <a:srgbClr val="000000"/>
              </a:buClr>
              <a:buSzPct val="100000"/>
              <a:buFont typeface="Times Roman"/>
              <a:buChar char="•"/>
              <a:defRPr sz="61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Connect to phone or computer to see alerts.</a:t>
            </a:r>
          </a:p>
          <a:p>
            <a:pPr marL="1833033" indent="-1693333" algn="ctr" defTabSz="825500">
              <a:spcBef>
                <a:spcPts val="0"/>
              </a:spcBef>
              <a:buClr>
                <a:srgbClr val="000000"/>
              </a:buClr>
              <a:buSzPct val="100000"/>
              <a:buFont typeface="Times Roman"/>
              <a:buChar char="•"/>
              <a:defRPr sz="61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Useful for home and factory safety.</a:t>
            </a:r>
          </a:p>
          <a:p>
            <a:pPr algn="ctr" defTabSz="825500">
              <a:spcBef>
                <a:spcPts val="0"/>
              </a:spcBef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Use special sound waves to help put out fire.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am Member ID and Name"/>
          <p:cNvSpPr txBox="1"/>
          <p:nvPr/>
        </p:nvSpPr>
        <p:spPr>
          <a:xfrm>
            <a:off x="182718" y="211440"/>
            <a:ext cx="11265917" cy="1273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825500">
              <a:lnSpc>
                <a:spcPct val="80000"/>
              </a:lnSpc>
              <a:spcBef>
                <a:spcPts val="0"/>
              </a:spcBef>
              <a:defRPr spc="-209" sz="70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</a:lstStyle>
          <a:p>
            <a:pPr/>
            <a:r>
              <a:t>Team Member ID and Name</a:t>
            </a:r>
          </a:p>
        </p:txBody>
      </p:sp>
      <p:sp>
        <p:nvSpPr>
          <p:cNvPr id="223" name="Contribution"/>
          <p:cNvSpPr txBox="1"/>
          <p:nvPr/>
        </p:nvSpPr>
        <p:spPr>
          <a:xfrm>
            <a:off x="15802680" y="98029"/>
            <a:ext cx="6329478" cy="1500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825500">
              <a:lnSpc>
                <a:spcPct val="80000"/>
              </a:lnSpc>
              <a:spcBef>
                <a:spcPts val="0"/>
              </a:spcBef>
              <a:defRPr spc="-252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</a:lstStyle>
          <a:p>
            <a:pPr/>
            <a:r>
              <a:t>Contribution</a:t>
            </a:r>
          </a:p>
        </p:txBody>
      </p:sp>
      <p:sp>
        <p:nvSpPr>
          <p:cNvPr id="224" name="1. Orghojit Pal Tonmoy (ID: 23208031)"/>
          <p:cNvSpPr txBox="1"/>
          <p:nvPr/>
        </p:nvSpPr>
        <p:spPr>
          <a:xfrm>
            <a:off x="354247" y="1829914"/>
            <a:ext cx="10320719" cy="1619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825500">
              <a:spcBef>
                <a:spcPts val="0"/>
              </a:spcBef>
              <a:defRPr sz="45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1. Orghojit Pal Tonmoy (ID: 23208031)</a:t>
            </a:r>
          </a:p>
        </p:txBody>
      </p:sp>
      <p:sp>
        <p:nvSpPr>
          <p:cNvPr id="225" name="2. Md Asadus Zaman Emon (ID: 23208052)"/>
          <p:cNvSpPr txBox="1"/>
          <p:nvPr/>
        </p:nvSpPr>
        <p:spPr>
          <a:xfrm>
            <a:off x="296832" y="4548775"/>
            <a:ext cx="11402619" cy="83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825500">
              <a:spcBef>
                <a:spcPts val="0"/>
              </a:spcBef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2. Md Asadus Zaman Emon (ID: 23208052)</a:t>
            </a:r>
          </a:p>
        </p:txBody>
      </p:sp>
      <p:sp>
        <p:nvSpPr>
          <p:cNvPr id="226" name="3. Ferdous Hossain (ID: 23208008)"/>
          <p:cNvSpPr txBox="1"/>
          <p:nvPr/>
        </p:nvSpPr>
        <p:spPr>
          <a:xfrm>
            <a:off x="236120" y="8444912"/>
            <a:ext cx="9359647" cy="83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825500">
              <a:spcBef>
                <a:spcPts val="0"/>
              </a:spcBef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3. Ferdous Hossain (ID: 23208008)</a:t>
            </a:r>
          </a:p>
        </p:txBody>
      </p:sp>
      <p:sp>
        <p:nvSpPr>
          <p:cNvPr id="227" name="4. Nafiza Anzum Zeba (ID: 23208002)"/>
          <p:cNvSpPr txBox="1"/>
          <p:nvPr/>
        </p:nvSpPr>
        <p:spPr>
          <a:xfrm>
            <a:off x="227223" y="11530328"/>
            <a:ext cx="10068205" cy="83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825500">
              <a:spcBef>
                <a:spcPts val="0"/>
              </a:spcBef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4. Nafiza Anzum Zeba (ID: 23208002)</a:t>
            </a:r>
          </a:p>
        </p:txBody>
      </p:sp>
      <p:sp>
        <p:nvSpPr>
          <p:cNvPr id="228" name="Component selection, oscilloscope,Data Collection…"/>
          <p:cNvSpPr txBox="1"/>
          <p:nvPr/>
        </p:nvSpPr>
        <p:spPr>
          <a:xfrm>
            <a:off x="12589008" y="1598581"/>
            <a:ext cx="11395660" cy="1646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700"/>
            </a:pPr>
            <a:r>
              <a:t>Component selection, oscilloscope,Data Collection</a:t>
            </a:r>
          </a:p>
          <a:p>
            <a:pPr>
              <a:defRPr sz="3700"/>
            </a:pPr>
            <a:r>
              <a:t>testing,Documentation, result analysis,</a:t>
            </a:r>
          </a:p>
        </p:txBody>
      </p:sp>
      <p:sp>
        <p:nvSpPr>
          <p:cNvPr id="229" name="Circuit design &amp; simulation(Protius),…"/>
          <p:cNvSpPr txBox="1"/>
          <p:nvPr/>
        </p:nvSpPr>
        <p:spPr>
          <a:xfrm>
            <a:off x="12536973" y="4192694"/>
            <a:ext cx="10422154" cy="30948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100"/>
            </a:pPr>
            <a:r>
              <a:t>Circuit design &amp; simulation(Protius),</a:t>
            </a:r>
          </a:p>
          <a:p>
            <a:pPr>
              <a:defRPr sz="3100"/>
            </a:pPr>
            <a:r>
              <a:t> PCB design(EasyEDA), Verify Circuit Working(Aurdno)&amp;</a:t>
            </a:r>
          </a:p>
          <a:p>
            <a:pPr>
              <a:defRPr sz="3100"/>
            </a:pPr>
            <a:r>
              <a:t>Coding(Aurdno IDE),Presentation preparation(Keynote), </a:t>
            </a:r>
          </a:p>
          <a:p>
            <a:pPr>
              <a:defRPr sz="3100"/>
            </a:pPr>
            <a:r>
              <a:t>Assembly circuit.</a:t>
            </a:r>
          </a:p>
        </p:txBody>
      </p:sp>
      <p:sp>
        <p:nvSpPr>
          <p:cNvPr id="230" name="Presentation preparation, report writing, block…"/>
          <p:cNvSpPr txBox="1"/>
          <p:nvPr/>
        </p:nvSpPr>
        <p:spPr>
          <a:xfrm>
            <a:off x="12585240" y="8496289"/>
            <a:ext cx="9472270" cy="15196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400"/>
            </a:pPr>
            <a:r>
              <a:t>Presentation preparation, report writing, block</a:t>
            </a:r>
          </a:p>
          <a:p>
            <a:pPr>
              <a:defRPr sz="3400"/>
            </a:pPr>
            <a:r>
              <a:t>diagram,Assembly Circuit.</a:t>
            </a:r>
          </a:p>
        </p:txBody>
      </p:sp>
      <p:sp>
        <p:nvSpPr>
          <p:cNvPr id="231" name="Documentation, simulation, result analysis,Coding…"/>
          <p:cNvSpPr txBox="1"/>
          <p:nvPr/>
        </p:nvSpPr>
        <p:spPr>
          <a:xfrm>
            <a:off x="12654391" y="11224703"/>
            <a:ext cx="9333968" cy="14438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100"/>
            </a:pPr>
            <a:r>
              <a:t>Documentation, simulation, result analysis,Coding</a:t>
            </a:r>
          </a:p>
          <a:p>
            <a:pPr>
              <a:defRPr sz="3100"/>
            </a:pPr>
            <a:r>
              <a:t>Result Analysis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he complete documentation, source code, and circuit design for this project are available on my GitHub repository.…"/>
          <p:cNvSpPr txBox="1"/>
          <p:nvPr/>
        </p:nvSpPr>
        <p:spPr>
          <a:xfrm>
            <a:off x="43395" y="328318"/>
            <a:ext cx="24297209" cy="3941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>
              <a:lnSpc>
                <a:spcPct val="80000"/>
              </a:lnSpc>
              <a:spcBef>
                <a:spcPts val="0"/>
              </a:spcBef>
              <a:defRPr spc="-132" sz="66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pPr>
            <a:r>
              <a:t>The complete documentation, source code, and circuit design for this project are available on my GitHub repository.</a:t>
            </a:r>
          </a:p>
          <a:p>
            <a:pPr algn="ctr">
              <a:lnSpc>
                <a:spcPct val="80000"/>
              </a:lnSpc>
              <a:spcBef>
                <a:spcPts val="0"/>
              </a:spcBef>
              <a:defRPr spc="-132" sz="66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pPr>
            <a:r>
              <a:t>It can be used as a reference by students or hobbyists who wish to create a similar gas detection system.</a:t>
            </a:r>
          </a:p>
        </p:txBody>
      </p:sp>
      <p:sp>
        <p:nvSpPr>
          <p:cNvPr id="234" name="https://github.com/XunidEmon"/>
          <p:cNvSpPr txBox="1"/>
          <p:nvPr/>
        </p:nvSpPr>
        <p:spPr>
          <a:xfrm>
            <a:off x="10706430" y="4930216"/>
            <a:ext cx="8957769" cy="90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https://github.com/XunidEmon</a:t>
            </a:r>
          </a:p>
        </p:txBody>
      </p:sp>
      <p:sp>
        <p:nvSpPr>
          <p:cNvPr id="235" name="Repository Link:"/>
          <p:cNvSpPr txBox="1"/>
          <p:nvPr/>
        </p:nvSpPr>
        <p:spPr>
          <a:xfrm>
            <a:off x="3896507" y="4797882"/>
            <a:ext cx="6345225" cy="11729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825500">
              <a:spcBef>
                <a:spcPts val="0"/>
              </a:spcBef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Repository Link:</a:t>
            </a:r>
          </a:p>
        </p:txBody>
      </p:sp>
      <p:pic>
        <p:nvPicPr>
          <p:cNvPr id="236" name="Image 38.jpeg" descr="Image 38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503109" y="6305370"/>
            <a:ext cx="10167917" cy="677319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1_ColorGradientLight">
  <a:themeElements>
    <a:clrScheme name="31_ColorGradient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31_ColorGradientLight">
      <a:majorFont>
        <a:latin typeface="Graphik Semibold"/>
        <a:ea typeface="Graphik Semibold"/>
        <a:cs typeface="Graphik Semibold"/>
      </a:majorFont>
      <a:minorFont>
        <a:latin typeface="Graphik Semibold"/>
        <a:ea typeface="Graphik Semibold"/>
        <a:cs typeface="Graphik Semibold"/>
      </a:minorFont>
    </a:fontScheme>
    <a:fmtScheme name="31_ColorGradien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Medium"/>
            <a:ea typeface="Graphik Medium"/>
            <a:cs typeface="Graphik Medium"/>
            <a:sym typeface="Graphik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4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1_ColorGradientLight">
  <a:themeElements>
    <a:clrScheme name="31_ColorGradient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31_ColorGradientLight">
      <a:majorFont>
        <a:latin typeface="Graphik Semibold"/>
        <a:ea typeface="Graphik Semibold"/>
        <a:cs typeface="Graphik Semibold"/>
      </a:majorFont>
      <a:minorFont>
        <a:latin typeface="Graphik Semibold"/>
        <a:ea typeface="Graphik Semibold"/>
        <a:cs typeface="Graphik Semibold"/>
      </a:minorFont>
    </a:fontScheme>
    <a:fmtScheme name="31_ColorGradien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Medium"/>
            <a:ea typeface="Graphik Medium"/>
            <a:cs typeface="Graphik Medium"/>
            <a:sym typeface="Graphik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4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